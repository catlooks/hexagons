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2_F0CD0B77.xml" ContentType="application/vnd.ms-powerpoint.comments+xml"/>
  <Override PartName="/ppt/comments/modernComment_115_514409E6.xml" ContentType="application/vnd.ms-powerpoint.comments+xml"/>
  <Override PartName="/ppt/comments/modernComment_11C_F89E5A0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</p:sldMasterIdLst>
  <p:notesMasterIdLst>
    <p:notesMasterId r:id="rId17"/>
  </p:notesMasterIdLst>
  <p:handoutMasterIdLst>
    <p:handoutMasterId r:id="rId18"/>
  </p:handoutMasterIdLst>
  <p:sldIdLst>
    <p:sldId id="273" r:id="rId5"/>
    <p:sldId id="274" r:id="rId6"/>
    <p:sldId id="279" r:id="rId7"/>
    <p:sldId id="285" r:id="rId8"/>
    <p:sldId id="287" r:id="rId9"/>
    <p:sldId id="288" r:id="rId10"/>
    <p:sldId id="290" r:id="rId11"/>
    <p:sldId id="291" r:id="rId12"/>
    <p:sldId id="277" r:id="rId13"/>
    <p:sldId id="284" r:id="rId14"/>
    <p:sldId id="276" r:id="rId15"/>
    <p:sldId id="278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4D2A8C6D-8E7E-3D6D-DF5C-4854EB989289}" name="Ihor Pankovets" initials="IP" userId="S::eaxsi@student.agh.edu.pl::1f42286e-f009-4b4d-8890-237786f27bb2" providerId="AD"/>
  <p188:author id="{AFD2279C-D1F2-7521-8324-DFE21AC3B05D}" name="Jakub Micał" initials="JM" userId="S::jakubmical@student.agh.edu.pl::54c74fde-de5b-46b3-9146-480d39aca9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238"/>
    <a:srgbClr val="ABB8C3"/>
    <a:srgbClr val="D8BEB2"/>
    <a:srgbClr val="753F2D"/>
    <a:srgbClr val="5E3324"/>
    <a:srgbClr val="8A4C34"/>
    <a:srgbClr val="815550"/>
    <a:srgbClr val="A3573E"/>
    <a:srgbClr val="E7E6E6"/>
    <a:srgbClr val="C28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modernComment_11C_F89E5A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483E7E-F5AB-435D-9295-96CF3B41D99E}" authorId="{AFD2279C-D1F2-7521-8324-DFE21AC3B05D}" created="2025-10-29T18:05:04.905">
    <pc:sldMkLst xmlns:pc="http://schemas.microsoft.com/office/powerpoint/2013/main/command">
      <pc:docMk/>
      <pc:sldMk cId="4171127298" sldId="284"/>
    </pc:sldMkLst>
    <p188:txBody>
      <a:bodyPr/>
      <a:lstStyle/>
      <a:p>
        <a:r>
          <a:rPr lang="pl-PL"/>
          <a:t>wiem że to jest blurry na web view, jak się pobierze to jest git i swear</a:t>
        </a:r>
      </a:p>
    </p188:txBody>
  </p188:cm>
  <p188:cm id="{AD1AE123-DCD5-478F-A68B-0BEDCD2D184B}" authorId="{4D2A8C6D-8E7E-3D6D-DF5C-4854EB989289}" created="2025-10-29T18:05:29.434">
    <pc:sldMkLst xmlns:pc="http://schemas.microsoft.com/office/powerpoint/2013/main/command">
      <pc:docMk/>
      <pc:sldMk cId="4171127298" sldId="284"/>
    </pc:sldMkLst>
    <p188:txBody>
      <a:bodyPr/>
      <a:lstStyle/>
      <a:p>
        <a:r>
          <a:rPr lang="en-US"/>
          <a:t>w assets/ tylko *.tlml, font.ttf i tileset.png</a:t>
        </a:r>
      </a:p>
    </p188:txBody>
  </p188:cm>
  <p188:cm id="{8DD12061-EE43-44F7-8424-81FB6AA39981}" authorId="{4D2A8C6D-8E7E-3D6D-DF5C-4854EB989289}" created="2025-10-29T18:06:06.107">
    <pc:sldMkLst xmlns:pc="http://schemas.microsoft.com/office/powerpoint/2013/main/command">
      <pc:docMk/>
      <pc:sldMk cId="4171127298" sldId="284"/>
    </pc:sldMkLst>
    <p188:replyLst>
      <p188:reply id="{8085C771-B9EB-4639-993D-CF1928217F42}" authorId="{AFD2279C-D1F2-7521-8324-DFE21AC3B05D}" created="2025-10-29T18:07:51.080">
        <p188:txBody>
          <a:bodyPr/>
          <a:lstStyle/>
          <a:p>
            <a:r>
              <a:rPr lang="pl-PL"/>
              <a:t>już poprawiam then</a:t>
            </a:r>
          </a:p>
        </p188:txBody>
      </p188:reply>
    </p188:replyLst>
    <p188:txBody>
      <a:bodyPr/>
      <a:lstStyle/>
      <a:p>
        <a:r>
          <a:rPr lang="en-US"/>
          <a:t>i ja bym te wszystkie pliki nie pisal, moze tylko nazwy folderow</a:t>
        </a:r>
      </a:p>
    </p188:txBody>
  </p188:cm>
</p188:cmLst>
</file>

<file path=ppt/comments/modernComment_115_514409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6AA844-D812-47DA-9CB2-B5D47E1B9309}" authorId="{4D2A8C6D-8E7E-3D6D-DF5C-4854EB989289}" created="2025-10-29T17:40:14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63413478" sldId="277"/>
      <ac:spMk id="8" creationId="{A8E87DA4-EB77-5ADA-4D68-9EC28E7CC859}"/>
    </ac:deMkLst>
    <p188:txBody>
      <a:bodyPr/>
      <a:lstStyle/>
      <a:p>
        <a:r>
          <a:rPr lang="en-US"/>
          <a:t>jezeli nie wiemy czy cos bedzie to lepiej nie pisac</a:t>
        </a:r>
      </a:p>
    </p188:txBody>
  </p188:cm>
</p188:cmLst>
</file>

<file path=ppt/comments/modernComment_122_F0CD0B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ECA6A0-21F4-4D21-B0E5-2F864F8F3A40}" authorId="{4D2A8C6D-8E7E-3D6D-DF5C-4854EB989289}" created="2025-10-29T18:45:35.507">
    <pc:sldMkLst xmlns:pc="http://schemas.microsoft.com/office/powerpoint/2013/main/command">
      <pc:docMk/>
      <pc:sldMk cId="4039969655" sldId="290"/>
    </pc:sldMkLst>
    <p188:txBody>
      <a:bodyPr/>
      <a:lstStyle/>
      <a:p>
        <a:r>
          <a:rPr lang="en-US"/>
          <a:t>tura "ai"?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1/26/2026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https://www.canva.com/design/DAG3MNHdPOE/nS01R2DVwyHZGDOIZlrGLA/edit?utm_content=DAG3MNHdPOE&amp;utm_campaign=designshare&amp;utm_medium=link2&amp;utm_source=sharebutton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0022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2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8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0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0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5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22_F0CD0B7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514409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1C_F89E5A0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1A8F8198-7178-5D3C-0F83-A4FE2C081FD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111281A-BBB4-3F87-9215-8EF145ACA6D4}"/>
              </a:ext>
            </a:extLst>
          </p:cNvPr>
          <p:cNvSpPr/>
          <p:nvPr/>
        </p:nvSpPr>
        <p:spPr>
          <a:xfrm>
            <a:off x="2300507" y="1240470"/>
            <a:ext cx="7591246" cy="302081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PROGRESS</a:t>
            </a:r>
            <a:b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</a:br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REPORT</a:t>
            </a:r>
            <a:r>
              <a:rPr lang="en-US" sz="8000">
                <a:latin typeface="Neue Haas Grotesk Text Pro"/>
                <a:ea typeface="Neue Haas Grotesk Text Pro"/>
                <a:cs typeface="Neue Haas Grotesk Text Pro"/>
              </a:rPr>
              <a:t>​</a:t>
            </a:r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DE66B33-D261-5794-F8A9-3F82244D4C8C}"/>
              </a:ext>
            </a:extLst>
          </p:cNvPr>
          <p:cNvSpPr/>
          <p:nvPr/>
        </p:nvSpPr>
        <p:spPr>
          <a:xfrm>
            <a:off x="2300505" y="5898501"/>
            <a:ext cx="7591247" cy="83313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Hexagon Teams</a:t>
            </a:r>
            <a:endParaRPr lang="pl-P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20F69D-5D89-5BB0-84E9-5D1E9EA7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sz="4000">
                <a:ea typeface="+mj-lt"/>
                <a:cs typeface="+mj-lt"/>
              </a:rPr>
              <a:t>Prace nad głównymi systemami gry</a:t>
            </a:r>
            <a:endParaRPr lang="pl-PL" sz="4000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E219CA-7513-AA34-B055-F76B1075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3061-43BD-4825-9CF2-282F8E1FE45D}" type="datetime1">
              <a:t>26.01.2026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B9CAE7C-8500-0B91-F32A-B8AB71F8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20F7929-5938-F5E8-55BB-94D0A14D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  <p:pic>
        <p:nvPicPr>
          <p:cNvPr id="1362" name="Obraz 1361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DDF44BE0-424C-611A-133D-D6AED31C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90" y="-24766"/>
            <a:ext cx="12216580" cy="64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5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3EB41AC3-66D7-88B2-3EBD-275890F91B71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3C5D663-07E3-E323-CABA-EEE123F8B7AB}"/>
              </a:ext>
            </a:extLst>
          </p:cNvPr>
          <p:cNvSpPr/>
          <p:nvPr/>
        </p:nvSpPr>
        <p:spPr>
          <a:xfrm>
            <a:off x="198863" y="638244"/>
            <a:ext cx="6128696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7BBEC76-FD8E-E2F7-4E8D-6718FB87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05" y="636322"/>
            <a:ext cx="6135612" cy="1658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System siatki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7E9548-E58B-38C9-EBEE-61FE90D4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8D7A00-2EEE-1B1A-6479-FFFF778F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8" name="Symbol zastępczy zawartości 7" descr="Obraz zawierający tekst, zrzut ekranu, wyświetlacz, Czcionka&#10;&#10;Zawartość wygenerowana przez AI może być niepoprawna.">
            <a:extLst>
              <a:ext uri="{FF2B5EF4-FFF2-40B4-BE49-F238E27FC236}">
                <a16:creationId xmlns:a16="http://schemas.microsoft.com/office/drawing/2014/main" id="{DFD1D9ED-5200-36A4-28BA-ED2CC75AA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8448" y="-155851"/>
            <a:ext cx="5894448" cy="7059123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209C021-006A-31C2-A79D-4B23AC1F4869}"/>
              </a:ext>
            </a:extLst>
          </p:cNvPr>
          <p:cNvSpPr/>
          <p:nvPr/>
        </p:nvSpPr>
        <p:spPr>
          <a:xfrm>
            <a:off x="198863" y="3069919"/>
            <a:ext cx="6151106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B24F17C-EBE9-C6F6-2E38-AD1B2CCCCD91}"/>
              </a:ext>
            </a:extLst>
          </p:cNvPr>
          <p:cNvSpPr txBox="1"/>
          <p:nvPr/>
        </p:nvSpPr>
        <p:spPr>
          <a:xfrm>
            <a:off x="212476" y="3516805"/>
            <a:ext cx="611616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Implementacja pól gry, zawierająca informacje o typie oraz przynależności </a:t>
            </a:r>
            <a:br>
              <a:rPr lang="pl-PL" sz="2400" b="1"/>
            </a:br>
            <a:r>
              <a:rPr lang="pl-PL" sz="2400" b="1">
                <a:solidFill>
                  <a:schemeClr val="bg1"/>
                </a:solidFill>
              </a:rPr>
              <a:t>(obecnie gracz, przeciwnik </a:t>
            </a:r>
            <a:br>
              <a:rPr lang="pl-PL" sz="2400" b="1"/>
            </a:br>
            <a:r>
              <a:rPr lang="pl-PL" sz="2400" b="1">
                <a:solidFill>
                  <a:schemeClr val="bg1"/>
                </a:solidFill>
              </a:rPr>
              <a:t>lub neutralne), </a:t>
            </a:r>
            <a:br>
              <a:rPr lang="pl-PL" sz="2400" b="1"/>
            </a:br>
            <a:r>
              <a:rPr lang="pl-PL" sz="2400" b="1">
                <a:solidFill>
                  <a:schemeClr val="bg1"/>
                </a:solidFill>
              </a:rPr>
              <a:t>a także ewentualnej jednostce znajdującej się na nim.</a:t>
            </a:r>
            <a:endParaRPr lang="pl-PL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19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2067-D8B6-21AB-FEC2-EEBE251F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DF4F2056-8B67-18C5-C5C1-276AA932DE7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36F2214-392C-B45D-1B50-1D9E5B791F73}"/>
              </a:ext>
            </a:extLst>
          </p:cNvPr>
          <p:cNvSpPr/>
          <p:nvPr/>
        </p:nvSpPr>
        <p:spPr>
          <a:xfrm>
            <a:off x="219740" y="575614"/>
            <a:ext cx="6128696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33B531D-F69B-0F09-CB81-5B617752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10" y="582257"/>
            <a:ext cx="6125173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Mapa i ekonomia</a:t>
            </a:r>
            <a:endParaRPr lang="pl-PL" b="0">
              <a:solidFill>
                <a:schemeClr val="bg1"/>
              </a:solidFill>
            </a:endParaRP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42CAD0-2728-A22D-A076-7315FD30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6E6C07-52D7-6FFB-7C44-9841443D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3" name="Obraz 2" descr="Obraz zawierający tekst, zrzut ekranu, Czcionka, multimedia&#10;&#10;Zawartość wygenerowana przez AI może być niepoprawna.">
            <a:extLst>
              <a:ext uri="{FF2B5EF4-FFF2-40B4-BE49-F238E27FC236}">
                <a16:creationId xmlns:a16="http://schemas.microsoft.com/office/drawing/2014/main" id="{A06066C4-A227-0800-B211-B535F866D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541" y="-156575"/>
            <a:ext cx="5878152" cy="70667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1B0BE5CF-BF16-864A-6BB5-2BF4B6C68052}"/>
              </a:ext>
            </a:extLst>
          </p:cNvPr>
          <p:cNvSpPr/>
          <p:nvPr/>
        </p:nvSpPr>
        <p:spPr>
          <a:xfrm>
            <a:off x="198863" y="2946654"/>
            <a:ext cx="6151106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9B981A4-4558-2848-FDD9-89660963A831}"/>
              </a:ext>
            </a:extLst>
          </p:cNvPr>
          <p:cNvSpPr txBox="1"/>
          <p:nvPr/>
        </p:nvSpPr>
        <p:spPr>
          <a:xfrm>
            <a:off x="223682" y="3734859"/>
            <a:ext cx="612737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Struktura reprezentująca mapę, zawierająca poszczególne pola, jednostki, a także ekonomię wszystkich podmiotów</a:t>
            </a:r>
          </a:p>
        </p:txBody>
      </p:sp>
    </p:spTree>
    <p:extLst>
      <p:ext uri="{BB962C8B-B14F-4D97-AF65-F5344CB8AC3E}">
        <p14:creationId xmlns:p14="http://schemas.microsoft.com/office/powerpoint/2010/main" val="74751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D0-E8B6-3189-58D4-DC3E4C32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0333BF80-EDBC-B029-565E-42818FEFA094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23631D4-B079-C3C2-7516-7470C1180E0F}"/>
              </a:ext>
            </a:extLst>
          </p:cNvPr>
          <p:cNvSpPr/>
          <p:nvPr/>
        </p:nvSpPr>
        <p:spPr>
          <a:xfrm>
            <a:off x="230178" y="575614"/>
            <a:ext cx="5533711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703B74-34F6-40B6-FA02-6C37D256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5509311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Stan Gry</a:t>
            </a:r>
            <a:endParaRPr lang="pl-PL" b="0">
              <a:solidFill>
                <a:schemeClr val="bg1"/>
              </a:solidFill>
            </a:endParaRP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3A61AB-DB70-55A7-0C53-9EC154E5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BA86EF1-587D-7292-B7B2-3B2D8FFA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7" name="Obraz 6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6646F9EF-B10D-3A1E-8E01-228111850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547" y="-52192"/>
            <a:ext cx="6447782" cy="685800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05B4E12-47B6-8099-9660-5D22EF7B5AC2}"/>
              </a:ext>
            </a:extLst>
          </p:cNvPr>
          <p:cNvSpPr/>
          <p:nvPr/>
        </p:nvSpPr>
        <p:spPr>
          <a:xfrm>
            <a:off x="221953" y="2946654"/>
            <a:ext cx="5516107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Klasa </a:t>
            </a:r>
            <a:r>
              <a:rPr lang="pl-PL" sz="2400" b="1" err="1">
                <a:solidFill>
                  <a:srgbClr val="E2E2E5"/>
                </a:solidFill>
                <a:latin typeface="DM Mono"/>
              </a:rPr>
              <a:t>GameMap</a:t>
            </a: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 pełni rolę głównego zarządcy stanu rozgrywki. Łączy w sobie wcześniej zdefiniowaną strukturę mapy z logiką niezbędną do prowadzenia gry.</a:t>
            </a:r>
            <a:endParaRPr lang="pl-PL" sz="2400" b="1"/>
          </a:p>
        </p:txBody>
      </p:sp>
    </p:spTree>
    <p:extLst>
      <p:ext uri="{BB962C8B-B14F-4D97-AF65-F5344CB8AC3E}">
        <p14:creationId xmlns:p14="http://schemas.microsoft.com/office/powerpoint/2010/main" val="2808653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2E22-D9B7-1F1B-D617-DAB66E65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231E3937-F18C-D7BE-0049-4D2811FF287D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F7D20BB5-3F9E-300F-297A-DF0E57393B40}"/>
              </a:ext>
            </a:extLst>
          </p:cNvPr>
          <p:cNvSpPr/>
          <p:nvPr/>
        </p:nvSpPr>
        <p:spPr>
          <a:xfrm>
            <a:off x="230178" y="575614"/>
            <a:ext cx="6285272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15C33D-2D52-EAAD-1FA7-8B835B05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6281749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Tura Gracza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785D9E6-835F-0F31-9FBC-B6A8AD32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699A1A-DAB7-0ED0-23F4-68C2816A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3" name="Obraz 2" descr="Obraz zawierający tekst, zrzut ekranu, wyświetlacz, komputer&#10;&#10;Zawartość wygenerowana przez AI może być niepoprawna.">
            <a:extLst>
              <a:ext uri="{FF2B5EF4-FFF2-40B4-BE49-F238E27FC236}">
                <a16:creationId xmlns:a16="http://schemas.microsoft.com/office/drawing/2014/main" id="{0E2884B8-AE3B-9120-9F8A-E9102DC0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54" y="-156576"/>
            <a:ext cx="5747978" cy="70667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EBB63252-0FCB-7876-AA59-71AF6D94C5C3}"/>
              </a:ext>
            </a:extLst>
          </p:cNvPr>
          <p:cNvSpPr/>
          <p:nvPr/>
        </p:nvSpPr>
        <p:spPr>
          <a:xfrm>
            <a:off x="221953" y="2946654"/>
            <a:ext cx="6289652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Logika tury gracza jest sterowana przez zdarzenia. Kluczowa funkcja nasłuchuje akcji wykonywanych przez użytkownika, w tym przypadku kliknięć myszy, i na ich podstawie realizuje odpowiednie działania.</a:t>
            </a:r>
            <a:endParaRPr lang="pl-PL" sz="2400" b="1"/>
          </a:p>
        </p:txBody>
      </p:sp>
    </p:spTree>
    <p:extLst>
      <p:ext uri="{BB962C8B-B14F-4D97-AF65-F5344CB8AC3E}">
        <p14:creationId xmlns:p14="http://schemas.microsoft.com/office/powerpoint/2010/main" val="3011693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EC94-5645-7DDF-9FD3-2C1E7A8D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277D5E91-B672-8C23-EF48-D9229488492E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38310351-5C37-4BBF-C7BE-421470D98254}"/>
              </a:ext>
            </a:extLst>
          </p:cNvPr>
          <p:cNvSpPr/>
          <p:nvPr/>
        </p:nvSpPr>
        <p:spPr>
          <a:xfrm>
            <a:off x="230178" y="575614"/>
            <a:ext cx="6285272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0E2976B-4E4E-9094-CC67-41247B29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6281749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Tura Przeciwnika AI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2ABB8A-0805-BF0E-E326-9CF635D2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0B44DC-B888-F849-73B9-A61ED5B8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6" name="Obraz 5" descr="Obraz zawierający tekst, zrzut ekranu, oprogramowanie, System operacyjny&#10;&#10;Zawartość wygenerowana przez AI może być niepoprawna.">
            <a:extLst>
              <a:ext uri="{FF2B5EF4-FFF2-40B4-BE49-F238E27FC236}">
                <a16:creationId xmlns:a16="http://schemas.microsoft.com/office/drawing/2014/main" id="{EBC8FA1B-8FDB-3D16-426B-489DC4E03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676" y="-144909"/>
            <a:ext cx="5763966" cy="7054641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4300D6DC-0913-A84F-C83A-6A4962B80038}"/>
              </a:ext>
            </a:extLst>
          </p:cNvPr>
          <p:cNvSpPr/>
          <p:nvPr/>
        </p:nvSpPr>
        <p:spPr>
          <a:xfrm>
            <a:off x="221953" y="2946654"/>
            <a:ext cx="6301197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Sztuczna inteligencja podejmuje decyzje w sposób strategiczny, analizując każdą ze swoich jednostek po kolei. Jej proces decyzyjny jest oparty na priorytetach </a:t>
            </a:r>
            <a:br>
              <a:rPr lang="pl-PL" sz="2400" b="1">
                <a:solidFill>
                  <a:srgbClr val="E2E2E5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i prawdopodobieństwie.</a:t>
            </a:r>
            <a:endParaRPr lang="pl-PL" sz="2400" b="1"/>
          </a:p>
        </p:txBody>
      </p:sp>
    </p:spTree>
    <p:extLst>
      <p:ext uri="{BB962C8B-B14F-4D97-AF65-F5344CB8AC3E}">
        <p14:creationId xmlns:p14="http://schemas.microsoft.com/office/powerpoint/2010/main" val="4039969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DF7B-FB62-D2D1-850D-41C977D0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B93BFA9-E477-F7BF-AAEB-24DF4BD12D43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094383D-1884-DA48-B200-397723E74CFC}"/>
              </a:ext>
            </a:extLst>
          </p:cNvPr>
          <p:cNvSpPr/>
          <p:nvPr/>
        </p:nvSpPr>
        <p:spPr>
          <a:xfrm>
            <a:off x="230178" y="575614"/>
            <a:ext cx="6285272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008B07-BCFB-7126-EFBD-0E80C782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6281749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Zakończenie gry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83609F-CEB1-21AF-240F-311922BB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62CD6C-8D40-2031-F621-CB62C2C7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3" name="Obraz 2" descr="Obraz zawierający tekst, zrzut ekranu, wyświetlacz, multimedia&#10;&#10;Zawartość wygenerowana przez AI może być niepoprawna.">
            <a:extLst>
              <a:ext uri="{FF2B5EF4-FFF2-40B4-BE49-F238E27FC236}">
                <a16:creationId xmlns:a16="http://schemas.microsoft.com/office/drawing/2014/main" id="{8F3EAF1B-1629-0D8A-B428-1F98215E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3" y="2306876"/>
            <a:ext cx="6564312" cy="460331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CA14F4D-CC3F-8FDC-77F0-88B7C1646EE9}"/>
              </a:ext>
            </a:extLst>
          </p:cNvPr>
          <p:cNvSpPr/>
          <p:nvPr/>
        </p:nvSpPr>
        <p:spPr>
          <a:xfrm>
            <a:off x="6907888" y="585827"/>
            <a:ext cx="5202661" cy="58631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Funkcja </a:t>
            </a:r>
            <a:r>
              <a:rPr lang="pl-PL" sz="2400" b="1" err="1">
                <a:solidFill>
                  <a:srgbClr val="E2E2E5"/>
                </a:solidFill>
                <a:latin typeface="DM Mono"/>
                <a:ea typeface="+mn-lt"/>
                <a:cs typeface="+mn-lt"/>
              </a:rPr>
              <a:t>finish</a:t>
            </a:r>
            <a:r>
              <a:rPr lang="pl-PL" sz="2400" b="1">
                <a:solidFill>
                  <a:srgbClr val="E2E2E5"/>
                </a:solidFill>
                <a:latin typeface="DM Mono"/>
                <a:ea typeface="+mn-lt"/>
                <a:cs typeface="+mn-lt"/>
              </a:rPr>
              <a:t>()</a:t>
            </a: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 jest regularnie wywoływana w celu sprawdzenia, czy któryś </a:t>
            </a:r>
            <a:br>
              <a:rPr lang="pl-PL" sz="2400" b="1">
                <a:solidFill>
                  <a:srgbClr val="E2E2E5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z graczy spełnił warunki zwycięstwa lub porażki.</a:t>
            </a:r>
            <a:endParaRPr lang="pl-PL" sz="2400" b="1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Rozgrywka może zakończyć się poprzez:</a:t>
            </a:r>
            <a:endParaRPr lang="pl-PL" sz="2400" b="1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Zwycięstwo przez dominację mapy</a:t>
            </a:r>
          </a:p>
          <a:p>
            <a:pPr marL="285750" indent="-285750" algn="ctr">
              <a:buFont typeface="Arial"/>
              <a:buChar char="•"/>
            </a:pPr>
            <a:r>
              <a:rPr lang="pl-PL" sz="2400" b="1">
                <a:solidFill>
                  <a:srgbClr val="E2E2E5"/>
                </a:solidFill>
                <a:ea typeface="+mn-lt"/>
                <a:cs typeface="+mn-lt"/>
              </a:rPr>
              <a:t> Porażka przez bankructwo</a:t>
            </a:r>
            <a:endParaRPr lang="pl-PL" sz="2400" b="1">
              <a:solidFill>
                <a:srgbClr val="E2E2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54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A8E87DA4-EB77-5ADA-4D68-9EC28E7CC859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lvl="0" indent="-342900" rtl="0">
              <a:lnSpc>
                <a:spcPts val="1650"/>
              </a:lnSpc>
              <a:buFont typeface="Arial,Sans-Serif"/>
              <a:buChar char="•"/>
            </a:pPr>
            <a:endParaRPr lang="en-US" sz="2000">
              <a:cs typeface="Arial"/>
            </a:endParaRP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C2A068-418C-E82B-D7AB-BACE54A4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BB2C-7CAE-4DE3-B896-077D5626CCB7}" type="datetime1"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E642FB-553D-F6C9-2938-9CC3CC059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D127208-851C-12B1-F31C-C5FEE80CED46}"/>
              </a:ext>
            </a:extLst>
          </p:cNvPr>
          <p:cNvSpPr/>
          <p:nvPr/>
        </p:nvSpPr>
        <p:spPr>
          <a:xfrm>
            <a:off x="611178" y="440421"/>
            <a:ext cx="10967884" cy="168116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F80EF1-E9FE-C3D1-B9F0-A9663F91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8028"/>
            <a:ext cx="10960836" cy="1685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Prace nad systemami własnymi</a:t>
            </a:r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2A8C5048-541C-07B1-A345-830275B16375}"/>
              </a:ext>
            </a:extLst>
          </p:cNvPr>
          <p:cNvSpPr/>
          <p:nvPr/>
        </p:nvSpPr>
        <p:spPr>
          <a:xfrm>
            <a:off x="615243" y="2614815"/>
            <a:ext cx="4936972" cy="4019586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pl-PL" sz="2000">
                <a:solidFill>
                  <a:schemeClr val="bg1"/>
                </a:solidFill>
              </a:rPr>
              <a:t>System UI oraz animacji – zestaw komponentów który pomoże w przyszłych pracach nad UI, zarówno w postaci menu jak i w trakcie rozgrywki</a:t>
            </a: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pl-PL" sz="2000">
                <a:solidFill>
                  <a:schemeClr val="bg1"/>
                </a:solidFill>
              </a:rPr>
              <a:t>Lokalizacja językowa dla większego dopasowania pod użytkownika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0483A184-C4A6-9529-38ED-F91BDE666050}"/>
              </a:ext>
            </a:extLst>
          </p:cNvPr>
          <p:cNvSpPr/>
          <p:nvPr/>
        </p:nvSpPr>
        <p:spPr>
          <a:xfrm>
            <a:off x="6625209" y="2614813"/>
            <a:ext cx="4949265" cy="400729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pl-PL" sz="2000" dirty="0">
                <a:solidFill>
                  <a:schemeClr val="bg1"/>
                </a:solidFill>
              </a:rPr>
              <a:t>Prowadzanie własnej dokumentacji (/</a:t>
            </a:r>
            <a:r>
              <a:rPr lang="pl-PL" sz="2000" dirty="0" err="1">
                <a:solidFill>
                  <a:schemeClr val="bg1"/>
                </a:solidFill>
              </a:rPr>
              <a:t>docs</a:t>
            </a:r>
            <a:r>
              <a:rPr lang="pl-PL" sz="2000" dirty="0">
                <a:solidFill>
                  <a:schemeClr val="bg1"/>
                </a:solidFill>
              </a:rPr>
              <a:t>), dla ułatwienia prac pozostałym członkom zespołu (obecnie dla komponentów UI oraz lokalizacji)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  <a:endParaRPr lang="pl-PL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pl-PL" sz="2000" dirty="0">
                <a:solidFill>
                  <a:schemeClr val="bg1"/>
                </a:solidFill>
              </a:rPr>
              <a:t>Trwa analiza oraz izolowany test dostępnych na rynku rozwiązań związanych z rozgrywką </a:t>
            </a:r>
            <a:r>
              <a:rPr lang="pl-PL" sz="2000" err="1">
                <a:solidFill>
                  <a:schemeClr val="bg1"/>
                </a:solidFill>
              </a:rPr>
              <a:t>multiplayer</a:t>
            </a:r>
            <a:endParaRPr lang="pl-PL" sz="200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13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96A750D-CBB0-9421-1CC7-DE7FE84AE4D5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1292FC-1506-3CC4-C242-0D60B124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C5157-823D-4157-83D6-E3E6CD99E60B}" type="datetime1">
              <a:rPr lang="en-US"/>
              <a:t>1/26/2026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98CCF4-4CB4-FC3F-B1A2-0390163D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9" name="Obraz 8" descr="Obraz zawierający zrzut ekranu, tekst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F8DE403E-4366-39E1-8B76-30CF738A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4466" y="-109038"/>
            <a:ext cx="12724355" cy="71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27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E486116B-AF72-F659-5E7E-2D2574AF448E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AFB3E5-53CB-76C8-6824-DE7DA09A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93A5A2-2D73-332F-E21A-861E4B2F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B8456D4-9F09-636B-13B3-D5AF50737485}"/>
              </a:ext>
            </a:extLst>
          </p:cNvPr>
          <p:cNvSpPr/>
          <p:nvPr/>
        </p:nvSpPr>
        <p:spPr>
          <a:xfrm>
            <a:off x="1188823" y="1976711"/>
            <a:ext cx="9812594" cy="278729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Prezentacja Prototypu</a:t>
            </a:r>
            <a:endParaRPr lang="pl-PL" sz="5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5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EF19C9E-6A00-BC9E-32CA-EEF3E072A196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5FE477-F00C-7698-F206-2685183E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DE17-89DC-452A-96DC-81BA7A2497A5}" type="datetime1">
              <a:t>26.01.2026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2FA036-3A97-A7F0-5BFA-1EDBA9F4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00B9B817-3027-407D-BD90-FF646BFC5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4048" y="-1"/>
            <a:ext cx="6740627" cy="5100484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120F29B-AA41-0112-396C-2C948411A6AB}"/>
              </a:ext>
            </a:extLst>
          </p:cNvPr>
          <p:cNvSpPr/>
          <p:nvPr/>
        </p:nvSpPr>
        <p:spPr>
          <a:xfrm>
            <a:off x="1034263" y="5101430"/>
            <a:ext cx="9812594" cy="140184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Dziękujemy za uwagę i czas na Q&amp;A</a:t>
            </a:r>
            <a:endParaRPr lang="pl-PL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106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783CE7D-BFC6-4030-A335-E7F88DB664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Panoramiczny</PresentationFormat>
  <Slides>12</Slides>
  <Notes>2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VanillaVTI</vt:lpstr>
      <vt:lpstr>Prezentacja programu PowerPoint</vt:lpstr>
      <vt:lpstr>Prace nad głównymi systemami gry</vt:lpstr>
      <vt:lpstr>System siatki</vt:lpstr>
      <vt:lpstr>Mapa i ekonomia</vt:lpstr>
      <vt:lpstr>Stan Gry</vt:lpstr>
      <vt:lpstr>Tura Gracza</vt:lpstr>
      <vt:lpstr>Tura Przeciwnika AI</vt:lpstr>
      <vt:lpstr>Zakończenie gry</vt:lpstr>
      <vt:lpstr>Prace nad systemami własnymi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2025-10-28T11:44:35Z</dcterms:created>
  <dcterms:modified xsi:type="dcterms:W3CDTF">2026-01-26T09:42:32Z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